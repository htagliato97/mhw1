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2" r:id="rId4"/>
    <p:sldId id="263" r:id="rId5"/>
    <p:sldId id="264" r:id="rId6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8F84FB0-313C-4939-BA37-4860650FFAEB}">
          <p14:sldIdLst>
            <p14:sldId id="256"/>
            <p14:sldId id="257"/>
            <p14:sldId id="262"/>
            <p14:sldId id="263"/>
            <p14:sldId id="264"/>
            <p14:sldId id="258"/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dirty="0"/>
              <a:t>3/23/2023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dirty="0"/>
              <a:t>3/23/2023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dirty="0"/>
              <a:t>3/23/2023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dirty="0"/>
              <a:t>3/23/2023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dirty="0"/>
              <a:t>3/23/2023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dirty="0"/>
              <a:t>3/23/2023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dirty="0"/>
              <a:t>3/23/2023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dirty="0"/>
              <a:t>3/23/2023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dirty="0"/>
              <a:t>3/23/2023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117F-5CCF-4837-BE5F-2B92066CAFAF}" type="datetimeFigureOut">
              <a:rPr lang="en-US" dirty="0"/>
              <a:t>3/23/2023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0BD-B6CE-46B7-997F-7313B992CCDC}" type="datetimeFigureOut">
              <a:rPr lang="en-US" dirty="0"/>
              <a:t>3/23/2023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D11F-B188-461D-B23F-39381795C052}" type="datetimeFigureOut">
              <a:rPr lang="en-US" dirty="0"/>
              <a:t>3/23/2023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8D9-55A2-4063-B0F3-121F44549695}" type="datetimeFigureOut">
              <a:rPr lang="en-US" dirty="0"/>
              <a:t>3/23/2023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536-994D-4021-A283-9F449C0DB509}" type="datetimeFigureOut">
              <a:rPr lang="en-US" dirty="0"/>
              <a:t>3/23/2023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BBB78-C96F-47B7-AB17-D852CA960AC9}" type="datetimeFigureOut">
              <a:rPr lang="en-US" dirty="0"/>
              <a:t>3/23/2023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dirty="0"/>
              <a:t>3/23/2023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178E61D-D431-422C-9764-11DAFE33AB63}" type="datetimeFigureOut">
              <a:rPr lang="en-US" dirty="0"/>
              <a:t>3/23/2023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dirty="0"/>
              <a:t>3/23/2023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lumMod val="95000"/>
                <a:lumOff val="5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07D79-1774-45CE-A28A-43C71B98DE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Web programming – </a:t>
            </a:r>
            <a:br>
              <a:rPr lang="it-IT" dirty="0"/>
            </a:br>
            <a:r>
              <a:rPr lang="it-IT" dirty="0"/>
              <a:t>Mini-</a:t>
            </a:r>
            <a:r>
              <a:rPr lang="it-IT" dirty="0" err="1"/>
              <a:t>Homework</a:t>
            </a:r>
            <a:r>
              <a:rPr lang="it-IT" dirty="0"/>
              <a:t>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877859-14C2-4D64-B598-A9F4FCE45B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/>
              <a:t>Claudio Di Grazia 1000041178</a:t>
            </a:r>
          </a:p>
          <a:p>
            <a:r>
              <a:rPr lang="it-IT" dirty="0"/>
              <a:t>A.A. 2022/2023</a:t>
            </a:r>
          </a:p>
        </p:txBody>
      </p:sp>
    </p:spTree>
    <p:extLst>
      <p:ext uri="{BB962C8B-B14F-4D97-AF65-F5344CB8AC3E}">
        <p14:creationId xmlns:p14="http://schemas.microsoft.com/office/powerpoint/2010/main" val="3781867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905A9BAA-B344-45D2-838C-73856C4B1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76" y="0"/>
            <a:ext cx="12192000" cy="6858001"/>
            <a:chOff x="-3176" y="0"/>
            <a:chExt cx="12192000" cy="6858001"/>
          </a:xfrm>
        </p:grpSpPr>
        <p:sp useBgFill="1">
          <p:nvSpPr>
            <p:cNvPr id="13" name="Rectangle 12">
              <a:extLst>
                <a:ext uri="{FF2B5EF4-FFF2-40B4-BE49-F238E27FC236}">
                  <a16:creationId xmlns:a16="http://schemas.microsoft.com/office/drawing/2014/main" id="{390434AA-4632-440E-9AE7-411396A77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88824" cy="685800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D462FD1E-E713-4FD4-8746-671C946723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176" y="0"/>
              <a:ext cx="12192000" cy="6858000"/>
            </a:xfrm>
            <a:prstGeom prst="rect">
              <a:avLst/>
            </a:prstGeom>
          </p:spPr>
        </p:pic>
      </p:grp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F59D7957-E3F3-AE03-6354-49533804A10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67" t="-592" r="3992" b="1"/>
          <a:stretch/>
        </p:blipFill>
        <p:spPr>
          <a:xfrm>
            <a:off x="3999990" y="-30596"/>
            <a:ext cx="8194151" cy="6888596"/>
          </a:xfrm>
          <a:prstGeom prst="rect">
            <a:avLst/>
          </a:prstGeom>
          <a:ln>
            <a:noFill/>
          </a:ln>
          <a:effectLst/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8A4CDE5-C7BC-41E1-8A4A-79E024CC09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5018565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D2E9CA-DCB7-410E-8366-C2F81A23D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2" y="753228"/>
            <a:ext cx="3679028" cy="1080938"/>
          </a:xfrm>
        </p:spPr>
        <p:txBody>
          <a:bodyPr>
            <a:normAutofit/>
          </a:bodyPr>
          <a:lstStyle/>
          <a:p>
            <a:r>
              <a:rPr lang="it-IT" sz="3200" dirty="0"/>
              <a:t>Aspetto Generale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25C7952-5703-489E-8DBD-F2EFAC8EEB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5029200" cy="202738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BDCF3D2-8EFD-D08E-2A7D-D605381F9E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977795"/>
            <a:ext cx="3994673" cy="4819820"/>
          </a:xfrm>
        </p:spPr>
        <p:txBody>
          <a:bodyPr>
            <a:normAutofit/>
          </a:bodyPr>
          <a:lstStyle/>
          <a:p>
            <a:r>
              <a:rPr lang="en-US" sz="1600" dirty="0"/>
              <a:t>Header: ho </a:t>
            </a:r>
            <a:r>
              <a:rPr lang="en-US" sz="1600" dirty="0" err="1"/>
              <a:t>posto</a:t>
            </a:r>
            <a:r>
              <a:rPr lang="en-US" sz="1600" dirty="0"/>
              <a:t> il </a:t>
            </a:r>
            <a:r>
              <a:rPr lang="en-US" sz="1600" dirty="0" err="1"/>
              <a:t>titolo</a:t>
            </a:r>
            <a:r>
              <a:rPr lang="en-US" sz="1600" dirty="0"/>
              <a:t> </a:t>
            </a:r>
            <a:r>
              <a:rPr lang="en-US" sz="1600" dirty="0" err="1"/>
              <a:t>della</a:t>
            </a:r>
            <a:r>
              <a:rPr lang="en-US" sz="1600" dirty="0"/>
              <a:t> </a:t>
            </a:r>
            <a:r>
              <a:rPr lang="en-US" sz="1600" dirty="0" err="1"/>
              <a:t>pagina</a:t>
            </a:r>
            <a:r>
              <a:rPr lang="en-US" sz="1600" dirty="0"/>
              <a:t> al </a:t>
            </a:r>
            <a:r>
              <a:rPr lang="en-US" sz="1600" dirty="0" err="1"/>
              <a:t>centro</a:t>
            </a:r>
            <a:r>
              <a:rPr lang="en-US" sz="1600" dirty="0"/>
              <a:t>, </a:t>
            </a:r>
            <a:r>
              <a:rPr lang="en-US" sz="1600" dirty="0" err="1"/>
              <a:t>mettendolo</a:t>
            </a:r>
            <a:r>
              <a:rPr lang="en-US" sz="1600" dirty="0"/>
              <a:t> in </a:t>
            </a:r>
            <a:r>
              <a:rPr lang="en-US" sz="1600" dirty="0" err="1"/>
              <a:t>risalto</a:t>
            </a:r>
            <a:r>
              <a:rPr lang="en-US" sz="1600" dirty="0"/>
              <a:t> rispetto al background (</a:t>
            </a:r>
            <a:r>
              <a:rPr lang="en-US" sz="1600" dirty="0" err="1"/>
              <a:t>utilizzo</a:t>
            </a:r>
            <a:r>
              <a:rPr lang="en-US" sz="1600" dirty="0"/>
              <a:t> </a:t>
            </a:r>
            <a:r>
              <a:rPr lang="en-US" sz="1600" dirty="0" err="1"/>
              <a:t>degli</a:t>
            </a:r>
            <a:r>
              <a:rPr lang="en-US" sz="1600" dirty="0"/>
              <a:t>      z-index </a:t>
            </a:r>
            <a:r>
              <a:rPr lang="en-US" sz="1600" dirty="0" err="1"/>
              <a:t>nel</a:t>
            </a:r>
            <a:r>
              <a:rPr lang="en-US" sz="1600" dirty="0"/>
              <a:t> </a:t>
            </a:r>
            <a:r>
              <a:rPr lang="en-US" sz="1600" dirty="0" err="1"/>
              <a:t>css</a:t>
            </a:r>
            <a:r>
              <a:rPr lang="en-US" sz="1600" dirty="0"/>
              <a:t>).</a:t>
            </a:r>
          </a:p>
          <a:p>
            <a:endParaRPr lang="en-US" sz="1600" dirty="0"/>
          </a:p>
          <a:p>
            <a:r>
              <a:rPr lang="en-US" sz="1600" dirty="0" err="1"/>
              <a:t>Menù</a:t>
            </a:r>
            <a:r>
              <a:rPr lang="en-US" sz="1600" dirty="0"/>
              <a:t> </a:t>
            </a:r>
            <a:r>
              <a:rPr lang="en-US" sz="1600" dirty="0" err="1"/>
              <a:t>Navigazione</a:t>
            </a:r>
            <a:r>
              <a:rPr lang="en-US" sz="1600" dirty="0"/>
              <a:t>: I </a:t>
            </a:r>
            <a:r>
              <a:rPr lang="en-US" sz="1600" dirty="0" err="1"/>
              <a:t>bottoni</a:t>
            </a:r>
            <a:r>
              <a:rPr lang="en-US" sz="1600" dirty="0"/>
              <a:t> </a:t>
            </a:r>
            <a:r>
              <a:rPr lang="en-US" sz="1600" dirty="0" err="1"/>
              <a:t>posti</a:t>
            </a:r>
            <a:r>
              <a:rPr lang="en-US" sz="1600" dirty="0"/>
              <a:t> in alto </a:t>
            </a:r>
            <a:r>
              <a:rPr lang="en-US" sz="1600" dirty="0" err="1"/>
              <a:t>sono</a:t>
            </a:r>
            <a:r>
              <a:rPr lang="en-US" sz="1600" dirty="0"/>
              <a:t> </a:t>
            </a:r>
            <a:r>
              <a:rPr lang="en-US" sz="1600" dirty="0" err="1"/>
              <a:t>creati</a:t>
            </a:r>
            <a:r>
              <a:rPr lang="en-US" sz="1600" dirty="0"/>
              <a:t> per </a:t>
            </a:r>
            <a:r>
              <a:rPr lang="en-US" sz="1600" dirty="0" err="1"/>
              <a:t>contenere</a:t>
            </a:r>
            <a:r>
              <a:rPr lang="en-US" sz="1600" dirty="0"/>
              <a:t> </a:t>
            </a:r>
            <a:r>
              <a:rPr lang="en-US" sz="1600" dirty="0" err="1"/>
              <a:t>referenze</a:t>
            </a:r>
            <a:r>
              <a:rPr lang="en-US" sz="1600" dirty="0"/>
              <a:t> a </a:t>
            </a:r>
            <a:r>
              <a:rPr lang="en-US" sz="1600" dirty="0" err="1"/>
              <a:t>pagine</a:t>
            </a:r>
            <a:r>
              <a:rPr lang="en-US" sz="1600" dirty="0"/>
              <a:t> </a:t>
            </a:r>
            <a:r>
              <a:rPr lang="en-US" sz="1600" dirty="0" err="1"/>
              <a:t>terze</a:t>
            </a:r>
            <a:r>
              <a:rPr lang="en-US" sz="1600" dirty="0"/>
              <a:t>.</a:t>
            </a:r>
          </a:p>
          <a:p>
            <a:pPr marL="0" indent="0">
              <a:buNone/>
            </a:pPr>
            <a:endParaRPr lang="en-US" sz="1600" dirty="0"/>
          </a:p>
          <a:p>
            <a:r>
              <a:rPr lang="en-US" sz="1600" dirty="0" err="1"/>
              <a:t>Contenuti</a:t>
            </a:r>
            <a:r>
              <a:rPr lang="en-US" sz="1600" dirty="0"/>
              <a:t>: ho </a:t>
            </a:r>
            <a:r>
              <a:rPr lang="en-US" sz="1600" dirty="0" err="1"/>
              <a:t>posto</a:t>
            </a:r>
            <a:r>
              <a:rPr lang="en-US" sz="1600" dirty="0"/>
              <a:t> in </a:t>
            </a:r>
            <a:r>
              <a:rPr lang="en-US" sz="1600" dirty="0" err="1"/>
              <a:t>ordine</a:t>
            </a:r>
            <a:r>
              <a:rPr lang="en-US" sz="1600" dirty="0"/>
              <a:t> </a:t>
            </a:r>
            <a:r>
              <a:rPr lang="en-US" sz="1600" dirty="0" err="1"/>
              <a:t>decrescente</a:t>
            </a:r>
            <a:r>
              <a:rPr lang="en-US" sz="1600" dirty="0"/>
              <a:t> </a:t>
            </a:r>
            <a:r>
              <a:rPr lang="en-US" sz="1600" dirty="0" err="1"/>
              <a:t>i</a:t>
            </a:r>
            <a:r>
              <a:rPr lang="en-US" sz="1600" dirty="0"/>
              <a:t> </a:t>
            </a:r>
            <a:r>
              <a:rPr lang="en-US" sz="1600" dirty="0" err="1"/>
              <a:t>compositori</a:t>
            </a:r>
            <a:r>
              <a:rPr lang="en-US" sz="1600" dirty="0"/>
              <a:t>, </a:t>
            </a:r>
            <a:r>
              <a:rPr lang="en-US" sz="1600" dirty="0" err="1"/>
              <a:t>ponendo</a:t>
            </a:r>
            <a:r>
              <a:rPr lang="en-US" sz="1600" dirty="0"/>
              <a:t> come </a:t>
            </a:r>
            <a:r>
              <a:rPr lang="en-US" sz="1600" dirty="0" err="1"/>
              <a:t>sottotitolo</a:t>
            </a:r>
            <a:r>
              <a:rPr lang="en-US" sz="1600" dirty="0"/>
              <a:t> il loro </a:t>
            </a:r>
            <a:r>
              <a:rPr lang="en-US" sz="1600" dirty="0" err="1"/>
              <a:t>paese</a:t>
            </a:r>
            <a:r>
              <a:rPr lang="en-US" sz="1600" dirty="0"/>
              <a:t> di </a:t>
            </a:r>
            <a:r>
              <a:rPr lang="en-US" sz="1600" dirty="0" err="1"/>
              <a:t>origine</a:t>
            </a:r>
            <a:r>
              <a:rPr lang="en-US" sz="1600" dirty="0"/>
              <a:t> e </a:t>
            </a:r>
            <a:r>
              <a:rPr lang="en-US" sz="1600" dirty="0" err="1"/>
              <a:t>nazionalità</a:t>
            </a:r>
            <a:r>
              <a:rPr lang="en-US" sz="1600" dirty="0"/>
              <a:t>.</a:t>
            </a:r>
          </a:p>
          <a:p>
            <a:endParaRPr lang="en-US" sz="1600" dirty="0"/>
          </a:p>
          <a:p>
            <a:r>
              <a:rPr lang="en-US" sz="1600" dirty="0"/>
              <a:t>Footer: </a:t>
            </a:r>
            <a:r>
              <a:rPr lang="it-IT" sz="1600" dirty="0"/>
              <a:t>nome, cognome, matricola.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94394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9B45147-9684-AFB7-2981-7253D0122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HTML - 1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12EA2CBC-C6D2-50F3-338F-704C7DA1A9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1842" y="2057751"/>
            <a:ext cx="8973802" cy="2514951"/>
          </a:xfr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CFEF533F-050D-ABA6-928E-87C4E94403DA}"/>
              </a:ext>
            </a:extLst>
          </p:cNvPr>
          <p:cNvSpPr txBox="1"/>
          <p:nvPr/>
        </p:nvSpPr>
        <p:spPr>
          <a:xfrm>
            <a:off x="0" y="4572702"/>
            <a:ext cx="12192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Partendo dall’analisi del blocco &lt;head&gt; dell’HTML, ho posto le varie specifiche per la compatibilità con i dispositivi mobile, le stesse indicate a lezione e presenti nelle slide del corso. Inoltre è anche presente la referenza al sito di </a:t>
            </a:r>
            <a:r>
              <a:rPr lang="it-IT" dirty="0" err="1"/>
              <a:t>googleapis</a:t>
            </a:r>
            <a:r>
              <a:rPr lang="it-IT" dirty="0"/>
              <a:t> per la scelta del font e il collegamento al CSS del corrispettivo HTML.</a:t>
            </a:r>
          </a:p>
          <a:p>
            <a:endParaRPr lang="it-IT" dirty="0"/>
          </a:p>
          <a:p>
            <a:r>
              <a:rPr lang="it-IT" dirty="0"/>
              <a:t>All’interno di &lt;body&gt; ho deciso di creare la classe </a:t>
            </a:r>
            <a:r>
              <a:rPr lang="it-IT" dirty="0" err="1"/>
              <a:t>navigation</a:t>
            </a:r>
            <a:r>
              <a:rPr lang="it-IT" dirty="0"/>
              <a:t> per contestualizzare meglio la barra di navigazione posta in cima alla pagina e i singoli item della barra sono &lt;a&gt; poiché questo tag definisce un hyperlink, che viene usato per rimandare ad un’altra pagina. L’attributo più importante di &lt;a&gt; è </a:t>
            </a:r>
            <a:r>
              <a:rPr lang="it-IT" dirty="0" err="1"/>
              <a:t>href</a:t>
            </a:r>
            <a:r>
              <a:rPr lang="it-IT" dirty="0"/>
              <a:t>, che indica la destinazione del link, in questo caso non referenzia a nessuna pagina ma ho deciso questa implementazione per rendere meglio l’idea.</a:t>
            </a:r>
          </a:p>
        </p:txBody>
      </p:sp>
    </p:spTree>
    <p:extLst>
      <p:ext uri="{BB962C8B-B14F-4D97-AF65-F5344CB8AC3E}">
        <p14:creationId xmlns:p14="http://schemas.microsoft.com/office/powerpoint/2010/main" val="2533654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1B83D5B-8EF8-1280-2DDC-AC59EED4A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HTML - 2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94DD61CE-9914-BA21-10DE-AC4EE3D101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023" y="2116451"/>
            <a:ext cx="6224901" cy="2907384"/>
          </a:xfr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1219C67D-1D19-605B-A9D8-49F6AB3AF539}"/>
              </a:ext>
            </a:extLst>
          </p:cNvPr>
          <p:cNvSpPr txBox="1"/>
          <p:nvPr/>
        </p:nvSpPr>
        <p:spPr>
          <a:xfrm>
            <a:off x="6530196" y="2355011"/>
            <a:ext cx="555778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In questo blocco vengono impostati l’</a:t>
            </a:r>
            <a:r>
              <a:rPr lang="it-IT" dirty="0" err="1"/>
              <a:t>header</a:t>
            </a:r>
            <a:r>
              <a:rPr lang="it-IT" dirty="0"/>
              <a:t> e il relativo overlay, con la creazione della rispettiva classe.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r>
              <a:rPr lang="it-IT" dirty="0"/>
              <a:t>Vi è inoltre un blocco dedicato anche al container per l’autore della pagina e la rispettiva immagine. L’uso di &lt;</a:t>
            </a:r>
            <a:r>
              <a:rPr lang="it-IT" dirty="0" err="1"/>
              <a:t>span</a:t>
            </a:r>
            <a:r>
              <a:rPr lang="it-IT" dirty="0"/>
              <a:t>&gt; è motivato dal fatto che è facilmente manipolabile dal CSS per quanto riguarda colori e stili. Molto simile a &lt;div&gt;, solo che questo è un </a:t>
            </a:r>
            <a:r>
              <a:rPr lang="it-IT" dirty="0" err="1"/>
              <a:t>block-level</a:t>
            </a:r>
            <a:r>
              <a:rPr lang="it-IT" dirty="0"/>
              <a:t> </a:t>
            </a:r>
            <a:r>
              <a:rPr lang="it-IT" dirty="0" err="1"/>
              <a:t>element</a:t>
            </a:r>
            <a:r>
              <a:rPr lang="it-IT" dirty="0"/>
              <a:t>, mentre &lt;</a:t>
            </a:r>
            <a:r>
              <a:rPr lang="it-IT" dirty="0" err="1"/>
              <a:t>span</a:t>
            </a:r>
            <a:r>
              <a:rPr lang="it-IT" dirty="0"/>
              <a:t>&gt; è un in-line </a:t>
            </a:r>
            <a:r>
              <a:rPr lang="it-IT" dirty="0" err="1"/>
              <a:t>element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47282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FC65DA4-AB2A-8C9E-1642-13E4C68B1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HTML - 3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15F3AFA3-EB8A-E533-91AC-39E4CD0A54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60996" y="2505909"/>
            <a:ext cx="6075886" cy="3598863"/>
          </a:xfr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869511DA-972F-65B5-8BF8-EDD78DC5AB7B}"/>
              </a:ext>
            </a:extLst>
          </p:cNvPr>
          <p:cNvSpPr txBox="1"/>
          <p:nvPr/>
        </p:nvSpPr>
        <p:spPr>
          <a:xfrm>
            <a:off x="0" y="2691441"/>
            <a:ext cx="596099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Il blocco &lt;</a:t>
            </a:r>
            <a:r>
              <a:rPr lang="it-IT" dirty="0" err="1"/>
              <a:t>article</a:t>
            </a:r>
            <a:r>
              <a:rPr lang="it-IT" dirty="0"/>
              <a:t>&gt; specifica il contenuto indipendente. Un uso possibile di questo tag è per un blog post, un simil format della pagina che ho voluto realizzare. Esso conterrà le varie descrizioni dei 5 artisti.</a:t>
            </a:r>
          </a:p>
          <a:p>
            <a:endParaRPr lang="it-IT" dirty="0"/>
          </a:p>
          <a:p>
            <a:r>
              <a:rPr lang="it-IT" dirty="0"/>
              <a:t>Il tag &lt;</a:t>
            </a:r>
            <a:r>
              <a:rPr lang="it-IT" dirty="0" err="1"/>
              <a:t>section</a:t>
            </a:r>
            <a:r>
              <a:rPr lang="it-IT" dirty="0"/>
              <a:t>&gt; invece è usato per definire una sezione del documento o della pagina web, in questo caso delimita ogni singolo artista.</a:t>
            </a:r>
          </a:p>
          <a:p>
            <a:endParaRPr lang="it-IT" dirty="0"/>
          </a:p>
          <a:p>
            <a:r>
              <a:rPr lang="it-IT" dirty="0"/>
              <a:t>La classe </a:t>
            </a:r>
            <a:r>
              <a:rPr lang="it-IT" dirty="0" err="1"/>
              <a:t>conclusion</a:t>
            </a:r>
            <a:r>
              <a:rPr lang="it-IT" dirty="0"/>
              <a:t> specificherà ogni singolo nickname che è stato assegnato nel corso dei secoli al singolo compositore. </a:t>
            </a:r>
          </a:p>
        </p:txBody>
      </p:sp>
    </p:spTree>
    <p:extLst>
      <p:ext uri="{BB962C8B-B14F-4D97-AF65-F5344CB8AC3E}">
        <p14:creationId xmlns:p14="http://schemas.microsoft.com/office/powerpoint/2010/main" val="4031379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02B0F4B-23B5-EE54-DC6D-16BCD464D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CSS - </a:t>
            </a:r>
            <a:r>
              <a:rPr lang="it-IT" dirty="0" err="1"/>
              <a:t>Header</a:t>
            </a:r>
            <a:endParaRPr lang="it-IT" dirty="0"/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B954A28C-0734-C0E0-AB44-59026EC28B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051892"/>
            <a:ext cx="4315427" cy="2305372"/>
          </a:xfr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FC2DD1BE-6BA2-5E6F-42A9-BD9A07506413}"/>
              </a:ext>
            </a:extLst>
          </p:cNvPr>
          <p:cNvSpPr txBox="1"/>
          <p:nvPr/>
        </p:nvSpPr>
        <p:spPr>
          <a:xfrm>
            <a:off x="4416725" y="2122098"/>
            <a:ext cx="74532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L’</a:t>
            </a:r>
            <a:r>
              <a:rPr lang="it-IT" dirty="0" err="1"/>
              <a:t>header</a:t>
            </a:r>
            <a:r>
              <a:rPr lang="it-IT" dirty="0"/>
              <a:t> è impostato su una altezza di 500px, come da istruzione, e ho fatto uso anche del comando background-position per impostare la parte alta della foto, in modo da oscurare la parte della platea ed evidenziare il fregio superiore.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ABA772E0-FC16-63F7-AB67-9A88F2C699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4175" y="3610359"/>
            <a:ext cx="3410426" cy="1724266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47C11CE5-6967-9445-B21F-C821D21B369C}"/>
              </a:ext>
            </a:extLst>
          </p:cNvPr>
          <p:cNvSpPr txBox="1"/>
          <p:nvPr/>
        </p:nvSpPr>
        <p:spPr>
          <a:xfrm>
            <a:off x="5487251" y="3891437"/>
            <a:ext cx="3347050" cy="9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Ho posto anche un overlay sul 100% di altezza e larghezza dell’immagine di background.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AD10F28-9D8D-5749-DECE-E0EBD698EA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99" y="5320873"/>
            <a:ext cx="2562583" cy="1486107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3177837-A31C-1856-C3A1-1B3A7C56646F}"/>
              </a:ext>
            </a:extLst>
          </p:cNvPr>
          <p:cNvSpPr txBox="1"/>
          <p:nvPr/>
        </p:nvSpPr>
        <p:spPr>
          <a:xfrm>
            <a:off x="2619982" y="5643107"/>
            <a:ext cx="47359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Il titolo invece è impostato con una larghezza di 780px e posto con uno z-index pari ad 1 per risultare in evidenza.</a:t>
            </a:r>
          </a:p>
        </p:txBody>
      </p:sp>
    </p:spTree>
    <p:extLst>
      <p:ext uri="{BB962C8B-B14F-4D97-AF65-F5344CB8AC3E}">
        <p14:creationId xmlns:p14="http://schemas.microsoft.com/office/powerpoint/2010/main" val="3563745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442F19A-88A4-2585-00D8-4ACFE7F59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CSS – Immagine Profilo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16AA9F25-71C1-732F-E7F6-FBA9234B51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401" y="2053029"/>
            <a:ext cx="3372044" cy="2924733"/>
          </a:xfr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5D6FC22E-F91F-FA19-3C89-BD5975DD025E}"/>
              </a:ext>
            </a:extLst>
          </p:cNvPr>
          <p:cNvSpPr txBox="1"/>
          <p:nvPr/>
        </p:nvSpPr>
        <p:spPr>
          <a:xfrm>
            <a:off x="3476445" y="2152553"/>
            <a:ext cx="71254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L’immagine profilo è rotonda (</a:t>
            </a:r>
            <a:r>
              <a:rPr lang="it-IT" dirty="0" err="1"/>
              <a:t>border-radius</a:t>
            </a:r>
            <a:r>
              <a:rPr lang="it-IT" dirty="0"/>
              <a:t>: 100%) e posta all’interno dell’</a:t>
            </a:r>
            <a:r>
              <a:rPr lang="it-IT" dirty="0" err="1"/>
              <a:t>header</a:t>
            </a:r>
            <a:r>
              <a:rPr lang="it-IT" dirty="0"/>
              <a:t> per una dimensione pari a 50px (</a:t>
            </a:r>
            <a:r>
              <a:rPr lang="it-IT" dirty="0" err="1"/>
              <a:t>margin</a:t>
            </a:r>
            <a:r>
              <a:rPr lang="it-IT" dirty="0"/>
              <a:t>-top: -50px), la larghezza complessiva è invece di 100px.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FFFA923A-DE4D-156D-0BD1-DB686B7BA9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894" y="3075883"/>
            <a:ext cx="3217705" cy="3416329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AEBE8899-588D-22DE-73BB-3C6C41DF7442}"/>
              </a:ext>
            </a:extLst>
          </p:cNvPr>
          <p:cNvSpPr txBox="1"/>
          <p:nvPr/>
        </p:nvSpPr>
        <p:spPr>
          <a:xfrm>
            <a:off x="4703335" y="3488817"/>
            <a:ext cx="425476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Qua sono presenti le righe di codice che vanno a definire il nome sotto la foto profilo e la linea sotto che separa la parte superiore della pagina web dal corpo dell’articolo sottostante.</a:t>
            </a: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E415148B-11AB-19F9-D8B2-72C6BD1252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01" y="5208607"/>
            <a:ext cx="2867425" cy="1619476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BC4DB7F3-D274-919F-5A8C-42B3C6AF7C11}"/>
              </a:ext>
            </a:extLst>
          </p:cNvPr>
          <p:cNvSpPr txBox="1"/>
          <p:nvPr/>
        </p:nvSpPr>
        <p:spPr>
          <a:xfrm>
            <a:off x="2971826" y="5427810"/>
            <a:ext cx="46711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Applico due regole agli elementi con id #name e #update, figli dell’elemento con classe </a:t>
            </a:r>
            <a:r>
              <a:rPr lang="it-IT" dirty="0" err="1"/>
              <a:t>flex</a:t>
            </a:r>
            <a:r>
              <a:rPr lang="it-IT" dirty="0"/>
              <a:t>-item-text.</a:t>
            </a:r>
          </a:p>
        </p:txBody>
      </p:sp>
    </p:spTree>
    <p:extLst>
      <p:ext uri="{BB962C8B-B14F-4D97-AF65-F5344CB8AC3E}">
        <p14:creationId xmlns:p14="http://schemas.microsoft.com/office/powerpoint/2010/main" val="2122186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87BC90-00D6-E935-B886-EE382997D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CSS – Contenuti</a:t>
            </a:r>
          </a:p>
        </p:txBody>
      </p:sp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84B37147-679E-22DE-0CF8-5E05CB8CC9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661" y="2086634"/>
            <a:ext cx="4521158" cy="4426309"/>
          </a:xfr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14495BAD-F68C-0E3D-2156-4A80FD349055}"/>
              </a:ext>
            </a:extLst>
          </p:cNvPr>
          <p:cNvSpPr txBox="1"/>
          <p:nvPr/>
        </p:nvSpPr>
        <p:spPr>
          <a:xfrm>
            <a:off x="4599818" y="2251495"/>
            <a:ext cx="759218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Ho impostato la sezione con larghezza specificata alla riga 138.</a:t>
            </a:r>
          </a:p>
          <a:p>
            <a:r>
              <a:rPr lang="it-IT" dirty="0"/>
              <a:t>Il testo è impostato per occupare il 66.67% della pagina cui sottraggo 80px dati dallo spessore tra il nome dell’artista e il numero corrispondente (40px) + lo spessore del numero stesso 40px.</a:t>
            </a:r>
          </a:p>
          <a:p>
            <a:r>
              <a:rPr lang="it-IT" dirty="0"/>
              <a:t>Il </a:t>
            </a:r>
            <a:r>
              <a:rPr lang="it-IT" dirty="0" err="1"/>
              <a:t>margin</a:t>
            </a:r>
            <a:r>
              <a:rPr lang="it-IT" dirty="0"/>
              <a:t>-top è anch’esso impostato nella dimensione indicata.</a:t>
            </a:r>
          </a:p>
          <a:p>
            <a:endParaRPr lang="it-IT" dirty="0"/>
          </a:p>
          <a:p>
            <a:r>
              <a:rPr lang="it-IT" dirty="0"/>
              <a:t>Nello screen si possono apprezzare anche le specifiche date al margine inferiore di ciascuna sezione, pari a 120px, e le varie peculiarità del .</a:t>
            </a:r>
            <a:r>
              <a:rPr lang="it-IT" dirty="0" err="1"/>
              <a:t>number</a:t>
            </a:r>
            <a:r>
              <a:rPr lang="it-IT" dirty="0"/>
              <a:t>, compreso colore e dimensioni.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271F05D2-9089-C69F-DB7D-3F3E115F0A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4019" y="5320339"/>
            <a:ext cx="2829320" cy="1324160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44F2B8C9-7881-40D2-F3B1-DCE799C6B391}"/>
              </a:ext>
            </a:extLst>
          </p:cNvPr>
          <p:cNvSpPr txBox="1"/>
          <p:nvPr/>
        </p:nvSpPr>
        <p:spPr>
          <a:xfrm>
            <a:off x="5003322" y="5504607"/>
            <a:ext cx="44618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La notazione @media crea una regola differente per i dispositivi con larghezza inferiore a 500px, ridimensionando il font-size</a:t>
            </a:r>
          </a:p>
        </p:txBody>
      </p:sp>
    </p:spTree>
    <p:extLst>
      <p:ext uri="{BB962C8B-B14F-4D97-AF65-F5344CB8AC3E}">
        <p14:creationId xmlns:p14="http://schemas.microsoft.com/office/powerpoint/2010/main" val="4224489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40604A-BEBC-1A5B-DA75-AA9AC385B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CSS – </a:t>
            </a:r>
            <a:r>
              <a:rPr lang="it-IT" dirty="0" err="1"/>
              <a:t>Footer</a:t>
            </a:r>
            <a:endParaRPr lang="it-IT" dirty="0"/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947AE22C-1CAE-7376-7087-4B91E69858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8675" y="2611690"/>
            <a:ext cx="3343742" cy="1962424"/>
          </a:xfr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52E93C34-D795-4AEF-88CF-72B82A2AB9BA}"/>
              </a:ext>
            </a:extLst>
          </p:cNvPr>
          <p:cNvSpPr txBox="1"/>
          <p:nvPr/>
        </p:nvSpPr>
        <p:spPr>
          <a:xfrm>
            <a:off x="5003320" y="2715739"/>
            <a:ext cx="561003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Infine ecco le dimensioni, colore, </a:t>
            </a:r>
            <a:r>
              <a:rPr lang="it-IT" dirty="0" err="1"/>
              <a:t>padding</a:t>
            </a:r>
            <a:r>
              <a:rPr lang="it-IT" dirty="0"/>
              <a:t> e font-size del </a:t>
            </a:r>
            <a:r>
              <a:rPr lang="it-IT" dirty="0" err="1"/>
              <a:t>footer</a:t>
            </a:r>
            <a:r>
              <a:rPr lang="it-IT" dirty="0"/>
              <a:t> della pagina web.</a:t>
            </a:r>
          </a:p>
          <a:p>
            <a:endParaRPr lang="it-IT" dirty="0"/>
          </a:p>
          <a:p>
            <a:r>
              <a:rPr lang="it-IT" dirty="0"/>
              <a:t>Sotto il </a:t>
            </a:r>
            <a:r>
              <a:rPr lang="it-IT" dirty="0" err="1"/>
              <a:t>footer</a:t>
            </a:r>
            <a:r>
              <a:rPr lang="it-IT" dirty="0"/>
              <a:t> voglio applicare una regola diversa per i paragrafi, che sarebbero le &lt;p&gt;, riguardante il </a:t>
            </a:r>
            <a:r>
              <a:rPr lang="it-IT" dirty="0" err="1"/>
              <a:t>padding</a:t>
            </a:r>
            <a:r>
              <a:rPr lang="it-IT" dirty="0"/>
              <a:t> ed il font-size.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13A9BA6B-7166-F8D0-6F3E-4A9DDD8B14E4}"/>
              </a:ext>
            </a:extLst>
          </p:cNvPr>
          <p:cNvSpPr txBox="1"/>
          <p:nvPr/>
        </p:nvSpPr>
        <p:spPr>
          <a:xfrm>
            <a:off x="7911856" y="6203348"/>
            <a:ext cx="445985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i="1" dirty="0"/>
              <a:t>Spero che la presentazione sia stata sufficientemente dettagliata  e di non aver dimenticato niente. </a:t>
            </a:r>
          </a:p>
          <a:p>
            <a:r>
              <a:rPr lang="it-IT" sz="1100" i="1" dirty="0"/>
              <a:t>Distinti Saluti </a:t>
            </a:r>
          </a:p>
        </p:txBody>
      </p:sp>
    </p:spTree>
    <p:extLst>
      <p:ext uri="{BB962C8B-B14F-4D97-AF65-F5344CB8AC3E}">
        <p14:creationId xmlns:p14="http://schemas.microsoft.com/office/powerpoint/2010/main" val="2855468086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671</TotalTime>
  <Words>755</Words>
  <Application>Microsoft Office PowerPoint</Application>
  <PresentationFormat>Widescreen</PresentationFormat>
  <Paragraphs>48</Paragraphs>
  <Slides>9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2" baseType="lpstr">
      <vt:lpstr>Arial</vt:lpstr>
      <vt:lpstr>Trebuchet MS</vt:lpstr>
      <vt:lpstr>Berlin</vt:lpstr>
      <vt:lpstr>Web programming –  Mini-Homework 1</vt:lpstr>
      <vt:lpstr>Aspetto Generale</vt:lpstr>
      <vt:lpstr>HTML - 1</vt:lpstr>
      <vt:lpstr>HTML - 2</vt:lpstr>
      <vt:lpstr>HTML - 3</vt:lpstr>
      <vt:lpstr>CSS - Header</vt:lpstr>
      <vt:lpstr>CSS – Immagine Profilo</vt:lpstr>
      <vt:lpstr>CSS – Contenuti</vt:lpstr>
      <vt:lpstr>CSS – Footer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programming – Homework 1</dc:title>
  <dc:creator>Claudio Di Grazia</dc:creator>
  <cp:lastModifiedBy>Claudio Di Grazia</cp:lastModifiedBy>
  <cp:revision>28</cp:revision>
  <dcterms:created xsi:type="dcterms:W3CDTF">2019-05-09T14:36:29Z</dcterms:created>
  <dcterms:modified xsi:type="dcterms:W3CDTF">2023-03-23T17:16:09Z</dcterms:modified>
</cp:coreProperties>
</file>